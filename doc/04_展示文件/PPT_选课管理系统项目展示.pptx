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59" r:id="rId7"/>
    <p:sldId id="275" r:id="rId8"/>
    <p:sldId id="260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3.svg"/><Relationship Id="rId5" Type="http://schemas.openxmlformats.org/officeDocument/2006/relationships/image" Target="../media/image8.png"/><Relationship Id="rId4" Type="http://schemas.openxmlformats.org/officeDocument/2006/relationships/image" Target="../media/image2.svg"/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svg"/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jpeg"/><Relationship Id="rId2" Type="http://schemas.openxmlformats.org/officeDocument/2006/relationships/image" Target="../media/image6.sv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7.sv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2.svg"/><Relationship Id="rId7" Type="http://schemas.openxmlformats.org/officeDocument/2006/relationships/image" Target="../media/image19.png"/><Relationship Id="rId6" Type="http://schemas.openxmlformats.org/officeDocument/2006/relationships/image" Target="../media/image11.svg"/><Relationship Id="rId5" Type="http://schemas.openxmlformats.org/officeDocument/2006/relationships/image" Target="../media/image18.png"/><Relationship Id="rId4" Type="http://schemas.openxmlformats.org/officeDocument/2006/relationships/image" Target="../media/image10.svg"/><Relationship Id="rId3" Type="http://schemas.openxmlformats.org/officeDocument/2006/relationships/image" Target="../media/image17.png"/><Relationship Id="rId2" Type="http://schemas.openxmlformats.org/officeDocument/2006/relationships/image" Target="../media/image9.sv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14.svg"/><Relationship Id="rId11" Type="http://schemas.openxmlformats.org/officeDocument/2006/relationships/image" Target="../media/image21.png"/><Relationship Id="rId10" Type="http://schemas.openxmlformats.org/officeDocument/2006/relationships/image" Target="../media/image13.sv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7.svg"/><Relationship Id="rId6" Type="http://schemas.openxmlformats.org/officeDocument/2006/relationships/image" Target="../media/image25.png"/><Relationship Id="rId5" Type="http://schemas.openxmlformats.org/officeDocument/2006/relationships/image" Target="../media/image16.svg"/><Relationship Id="rId4" Type="http://schemas.openxmlformats.org/officeDocument/2006/relationships/image" Target="../media/image24.png"/><Relationship Id="rId3" Type="http://schemas.openxmlformats.org/officeDocument/2006/relationships/image" Target="../media/image23.jpeg"/><Relationship Id="rId2" Type="http://schemas.openxmlformats.org/officeDocument/2006/relationships/image" Target="../media/image15.sv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sv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558" y="1043940"/>
            <a:ext cx="4953953" cy="183832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3500" b="1" dirty="0">
                <a:solidFill>
                  <a:srgbClr val="CD727B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选课管理系统项目展示 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172200" y="4205288"/>
            <a:ext cx="1943100" cy="204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张涛&amp;高扬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72200" y="4452938"/>
            <a:ext cx="1943100" cy="204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2026-01-19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0775" y="571500"/>
            <a:ext cx="516255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D727B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CONTENTS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390775" y="1490663"/>
            <a:ext cx="5386388" cy="32194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作品功能与最终成果</a:t>
            </a:r>
            <a:endParaRPr lang="en-US" sz="1750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关键技术与架构一致性</a:t>
            </a:r>
            <a:endParaRPr lang="en-US" sz="1750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分工与心得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6838" y="2157413"/>
            <a:ext cx="995362" cy="8334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95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1</a:t>
            </a:r>
            <a:endParaRPr lang="en-US" sz="4095" dirty="0"/>
          </a:p>
        </p:txBody>
      </p:sp>
      <p:sp>
        <p:nvSpPr>
          <p:cNvPr id="3" name="Text 1"/>
          <p:cNvSpPr/>
          <p:nvPr/>
        </p:nvSpPr>
        <p:spPr>
          <a:xfrm>
            <a:off x="2886075" y="2128838"/>
            <a:ext cx="5101590" cy="89058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727CBE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作品功能与最终成果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4960" y="0"/>
            <a:ext cx="3921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/>
              <a:t>1.1 核心功能展示 - 基础业务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102870" y="528320"/>
            <a:ext cx="885507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本项目实现了一个功能完备、基于控制台交互（CLI）的选课管理系统，严格遵循软件工程规范，实现了多角色权限分离。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   多角色权限体系：</a:t>
            </a:r>
            <a:endParaRPr lang="zh-CN" altLang="en-US"/>
          </a:p>
          <a:p>
            <a:pPr algn="l"/>
            <a:r>
              <a:rPr lang="zh-CN" altLang="en-US"/>
              <a:t>       学生端：支持安全的登录认证，核心功能包括自助选课、退课、查看个人课表以及查询课程成绩。系统确保学生只能看到属于自己的数据。</a:t>
            </a:r>
            <a:endParaRPr lang="zh-CN" altLang="en-US"/>
          </a:p>
          <a:p>
            <a:pPr algn="l"/>
            <a:r>
              <a:rPr lang="zh-CN" altLang="en-US"/>
              <a:t>       教师端：支持查看授课名单（Roster）和录入/修改学生成绩。通过会话上下文（Session Context）确立操作权限，防止越权操作。</a:t>
            </a:r>
            <a:endParaRPr lang="zh-CN" altLang="en-US"/>
          </a:p>
          <a:p>
            <a:pPr algn="l"/>
            <a:r>
              <a:rPr lang="zh-CN" altLang="en-US"/>
              <a:t>       系统/教学秘书：虽然逻辑主要在后端支撑，但系统支持课程的发布与基础数据的初始化（通过 `initialize` 流程自动完成）。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   交互体验：</a:t>
            </a:r>
            <a:endParaRPr lang="zh-CN" altLang="en-US"/>
          </a:p>
          <a:p>
            <a:pPr algn="l"/>
            <a:r>
              <a:rPr lang="zh-CN" altLang="en-US"/>
              <a:t>       构建了基于菜单（Menu-Driven）的 CLI 系统，提供清晰的层级导航。</a:t>
            </a:r>
            <a:endParaRPr lang="zh-CN" altLang="en-US"/>
          </a:p>
          <a:p>
            <a:pPr algn="l"/>
            <a:r>
              <a:rPr lang="zh-CN" altLang="en-US"/>
              <a:t>       实现了鲁棒的输入处理机制，针对 `EOF` 或非法输入做了特殊处理（支持 `exit/q` 随时退出），彻底解决了控制台交互常见的死循环问题。</a:t>
            </a:r>
            <a:endParaRPr lang="zh-CN" altLang="en-US"/>
          </a:p>
          <a:p>
            <a:pPr algn="l"/>
            <a:r>
              <a:rPr lang="zh-CN" altLang="en-US"/>
              <a:t>       报表输出经过格式化（Format）处理，确保在终端中表格对齐美观。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14960" y="0"/>
            <a:ext cx="3921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/>
              <a:t>1.2 扩展功能与业务规则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128270" y="374015"/>
            <a:ext cx="858901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系统在基础功能之上，引入了复杂的业务规则校验和企业级特性：</a:t>
            </a:r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zh-CN" altLang="en-US" sz="1600"/>
              <a:t>   增强的系统能力：</a:t>
            </a:r>
            <a:endParaRPr lang="zh-CN" altLang="en-US" sz="1600"/>
          </a:p>
          <a:p>
            <a:pPr algn="l"/>
            <a:r>
              <a:rPr lang="zh-CN" altLang="en-US" sz="1600"/>
              <a:t>       N+1 查询优化：在基础设施层（Infrastructure）通过 SQL `JOIN` 语句重写了数据加载逻辑，在“查看课表”等高频场景下极大提升了性能，避免了循环查库。</a:t>
            </a:r>
            <a:endParaRPr lang="zh-CN" altLang="en-US" sz="1600"/>
          </a:p>
          <a:p>
            <a:pPr algn="l"/>
            <a:r>
              <a:rPr lang="zh-CN" altLang="en-US" sz="1600"/>
              <a:t>       会话管理：实现了基于内存的单例 `SystemController` 会话状态，维护 `m_currentUser`，避免了每次操作都需要重复传参。</a:t>
            </a:r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zh-CN" altLang="en-US" sz="1600"/>
              <a:t>   智能冲突检测：</a:t>
            </a:r>
            <a:endParaRPr lang="zh-CN" altLang="en-US" sz="1600"/>
          </a:p>
          <a:p>
            <a:pPr algn="l"/>
            <a:r>
              <a:rPr lang="zh-CN" altLang="en-US" sz="1600"/>
              <a:t>       时间冲突：领域对象 `Student` 和 `TimeSlot` 内置了冲突检测算法（`overlaps`），在选课时自动校验新课与已选课程的时间槽是否重叠。</a:t>
            </a:r>
            <a:endParaRPr lang="zh-CN" altLang="en-US" sz="1600"/>
          </a:p>
          <a:p>
            <a:pPr algn="l"/>
            <a:r>
              <a:rPr lang="zh-CN" altLang="en-US" sz="1600"/>
              <a:t>       容量控制：严格执行课程容量限制（Capacity Check），满员课程自动拒绝新的选课请求。</a:t>
            </a:r>
            <a:endParaRPr lang="zh-CN" altLang="en-US" sz="1600"/>
          </a:p>
          <a:p>
            <a:pPr algn="l"/>
            <a:r>
              <a:rPr lang="zh-CN" altLang="en-US" sz="1600"/>
              <a:t>       防重复逻辑：自动拦截重复选课请求，保证数据逻辑合理。</a:t>
            </a:r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zh-CN" altLang="en-US" sz="1600"/>
              <a:t>   数据完整性与持久化：</a:t>
            </a:r>
            <a:endParaRPr lang="zh-CN" altLang="en-US" sz="1600"/>
          </a:p>
          <a:p>
            <a:pPr algn="l"/>
            <a:r>
              <a:rPr lang="zh-CN" altLang="en-US" sz="1600"/>
              <a:t>       全量持久化：告别了 v1.0 版本的内存模拟，所有数据（用户、课程、选课关系）均实时写入 PostgreSQL 数据库。</a:t>
            </a:r>
            <a:endParaRPr lang="zh-CN" altLang="en-US" sz="1600"/>
          </a:p>
          <a:p>
            <a:pPr algn="l"/>
            <a:r>
              <a:rPr lang="zh-CN" altLang="en-US" sz="1600"/>
              <a:t>       事务安全性：关键操作（如选课、录入成绩）通过数据库事务或原子操作保证一致性。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238" y="0"/>
            <a:ext cx="9525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" y="204788"/>
            <a:ext cx="3281362" cy="6000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3085" y="149860"/>
            <a:ext cx="3346450" cy="6915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1.3 目标 vs 现状 vs 亮点</a:t>
            </a:r>
            <a:endParaRPr lang="en-US" b="1" dirty="0">
              <a:solidFill>
                <a:srgbClr val="FFFFFF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728663"/>
            <a:ext cx="176213" cy="17621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71450" y="1012190"/>
            <a:ext cx="4043680" cy="10642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目标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完成一个符合软件工程实训要求的选课模拟程序。</a:t>
            </a:r>
            <a:endParaRPr lang="en-US" sz="14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1900237"/>
            <a:ext cx="176213" cy="176213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20650" y="2263140"/>
            <a:ext cx="4043680" cy="1019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现状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交付了一个基于 C++23 Modules 前沿技术、4层架构解耦、具备真实数据库后端的现代化 CLI 应用。 </a:t>
            </a:r>
            <a:endParaRPr lang="en-US" sz="14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3071813"/>
            <a:ext cx="176213" cy="176213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4736148" y="1804670"/>
            <a:ext cx="4043363" cy="1019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亮点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1. 技术栈前沿：大胆采用 C++23 Modules 标准，解决了 GCC 15 编译器下的兼容性难题。</a:t>
            </a:r>
            <a:endParaRPr lang="en-US" sz="14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2. 架构纯净：通过静态库隔离 + PIMPL 模式，完美解决了 Modules 与传统头文件库（libpqxx）的冲突。</a:t>
            </a:r>
            <a:endParaRPr lang="en-US" sz="14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3. DDD 落地：领域层代码纯净，无任何 SQL 污染，实现了真正的业务逻辑与技术细节分离。 |</a:t>
            </a:r>
            <a:endParaRPr lang="en-US" sz="14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4243388"/>
            <a:ext cx="176213" cy="176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6838" y="2157413"/>
            <a:ext cx="995362" cy="8334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95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</a:t>
            </a:r>
            <a:endParaRPr lang="en-US" sz="4095" dirty="0"/>
          </a:p>
        </p:txBody>
      </p:sp>
      <p:sp>
        <p:nvSpPr>
          <p:cNvPr id="3" name="Text 1"/>
          <p:cNvSpPr/>
          <p:nvPr/>
        </p:nvSpPr>
        <p:spPr>
          <a:xfrm>
            <a:off x="2886075" y="2128838"/>
            <a:ext cx="5101590" cy="89058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727CBE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关键技术与架构一致性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1435" y="-3111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053" y="-30798"/>
            <a:ext cx="7524750" cy="5143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52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2.1 系统架构 - 严格的 4 层模型</a:t>
            </a:r>
            <a:endParaRPr lang="en-US" sz="2520" b="1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1752" y="1210628"/>
            <a:ext cx="2305050" cy="29765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640" y="1344295"/>
            <a:ext cx="1866900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  <a:sym typeface="+mn-ea"/>
              </a:rPr>
              <a:t>1.  Presentation (表现层)：</a:t>
            </a:r>
            <a:endParaRPr lang="en-US" sz="1050" dirty="0">
              <a:solidFill>
                <a:schemeClr val="bg1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  <a:sym typeface="+mn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4620" y="2008505"/>
            <a:ext cx="1862455" cy="19932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职责：负责与用户交互，接收输入、渲染菜单、展示</a:t>
            </a:r>
            <a:r>
              <a:rPr lang="zh-CN" alt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数</a:t>
            </a: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据。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实现：`UserInterface` 类，只包含 I/O 逻辑，不包含任何业务规则。通过 `setController` 注入应用层依赖。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5528" y="1210628"/>
            <a:ext cx="2305050" cy="29765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34603" y="1463358"/>
            <a:ext cx="1866900" cy="3286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  <a:sym typeface="+mn-ea"/>
              </a:rPr>
              <a:t>2.  Application (应用逻辑层)：</a:t>
            </a:r>
            <a:endParaRPr lang="en-US" sz="1050" dirty="0">
              <a:solidFill>
                <a:schemeClr val="bg1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  <a:sym typeface="+mn-ea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517775" y="2008505"/>
            <a:ext cx="1863090" cy="26460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职责：用例（Use Case）的编排者与协调者。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实现：`SystemController`。它接收 UI 请求，调用 Domain 对象执行逻辑，并指挥 Infrastructure 层进行持久化。关键重构：移除了所有直接 SQL 操作，转而调用 Proxy。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120958" y="1679258"/>
            <a:ext cx="1866900" cy="3286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模型与实现的一致性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5039995" y="1441133"/>
            <a:ext cx="490537" cy="152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NO.3</a:t>
            </a:r>
            <a:endParaRPr lang="en-US" sz="980" dirty="0"/>
          </a:p>
        </p:txBody>
      </p:sp>
      <p:sp>
        <p:nvSpPr>
          <p:cNvPr id="15" name="Text 9"/>
          <p:cNvSpPr/>
          <p:nvPr/>
        </p:nvSpPr>
        <p:spPr>
          <a:xfrm>
            <a:off x="5087620" y="2284095"/>
            <a:ext cx="1862138" cy="181451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代码与设计的一致性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7858" y="1210628"/>
            <a:ext cx="2305050" cy="2976563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7206615" y="1441450"/>
            <a:ext cx="1866900" cy="4699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  <a:sym typeface="+mn-ea"/>
              </a:rPr>
              <a:t>4.  Infrastructure (基础设施层)：</a:t>
            </a:r>
            <a:endParaRPr lang="en-US" sz="1050" dirty="0">
              <a:solidFill>
                <a:schemeClr val="bg1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  <a:sym typeface="+mn-ea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148195" y="2073910"/>
            <a:ext cx="1862138" cy="1814513"/>
          </a:xfrm>
          <a:prstGeom prst="rect">
            <a:avLst/>
          </a:prstGeom>
          <a:noFill/>
        </p:spPr>
        <p:txBody>
          <a:bodyPr wrap="square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职责：提供技术支撑，实 数据持久化。</a:t>
            </a:r>
            <a:b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实现：采用 Proxy Pattern（代理模式）。`StudentProxy`, `CourseProxy` 封装了 `libpqxx`，对外暴露对象化的 `save/find` 接口，屏蔽了 SQL 细节。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8" y="1210628"/>
            <a:ext cx="2305050" cy="2976563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896168" y="1441133"/>
            <a:ext cx="1866900" cy="328613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  <a:sym typeface="+mn-ea"/>
              </a:rPr>
              <a:t>3.  Domain (领域层)：</a:t>
            </a:r>
            <a:endParaRPr lang="en-US" sz="1050" dirty="0">
              <a:solidFill>
                <a:schemeClr val="bg1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  <a:sym typeface="+mn-ea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862830" y="2186940"/>
            <a:ext cx="1862138" cy="1814513"/>
          </a:xfrm>
          <a:prstGeom prst="rect">
            <a:avLst/>
          </a:prstGeom>
          <a:noFill/>
        </p:spPr>
        <p:txBody>
          <a:bodyPr wrap="square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职责：承载核心业务逻辑与状态。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实现：`Student`, `Course`, `TimeSlot`。例如 `student.canEnroll(course)` 方法包含了所有选课规则判断。此层完全不依赖数据库。</a:t>
            </a:r>
            <a:endParaRPr lang="en-US" sz="105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7" grpId="0" bldLvl="0" animBg="1"/>
      <p:bldP spid="8" grpId="0" bldLvl="0" animBg="1"/>
      <p:bldP spid="9" grpId="0" bldLvl="0" animBg="1"/>
      <p:bldP spid="11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9" grpId="0" bldLvl="0" animBg="1"/>
      <p:bldP spid="20" grpId="0" bldLvl="0" animBg="1"/>
      <p:bldP spid="21" grpId="0" bldLvl="0" animBg="1"/>
      <p:bldP spid="2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7037" y="1619250"/>
            <a:ext cx="2109788" cy="1905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2.2 关键技术难点与解决方案</a:t>
            </a:r>
            <a:endParaRPr lang="en-US" sz="2800" b="1" dirty="0">
              <a:solidFill>
                <a:srgbClr val="FFFFFF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3938588" y="1619250"/>
            <a:ext cx="2514600" cy="190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909638"/>
            <a:ext cx="3176588" cy="33194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难点 1：C++23 Modules 与传统库 (libpqxx) 的“水土不服”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问题：在 `.cppm` 模块文件中直接 `#include &lt;pqxx/pqxx&gt;` 会导致编译器（GCC）出现 `Internal Compiler Error` 或严重的 `include-translate` 错误，这是目前 C++ 生态过渡期的典型问题。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解决方案：物理隔离 + PIMPL (Pointer to Implementation)。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   创建独立静态库 `lib_db_core`，其头文件只暴露纯虚接口，不包含任何 pqxx 头文件。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   在 `.cpp` 实现文件中引用 pqxx。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   主项目模块通过链接该静态库，实现了 Modules 环境下的数据库无缝集成。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难点 2：上帝类 (God Class) 的膨胀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问题：v2.0 阶段，Controller 充斥着大量 SQL 拼接，导致业务逻辑与数据访问耦合，难以维护。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解决方案：实施架构重构。引入 `DBAdapter` 和 Proxy 层，将 SQL 下沉；将冲突检测等逻辑上浮至 Domain 层。</a:t>
            </a:r>
            <a:endParaRPr lang="en-US" sz="98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261938"/>
            <a:ext cx="7920037" cy="547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60" b="1" dirty="0">
                <a:solidFill>
                  <a:srgbClr val="CD727B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2.3模型与实现的一致性</a:t>
            </a:r>
            <a:endParaRPr lang="en-US" sz="266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t="5556" b="5556"/>
          <a:stretch>
            <a:fillRect/>
          </a:stretch>
        </p:blipFill>
        <p:spPr>
          <a:xfrm>
            <a:off x="5567363" y="1042988"/>
            <a:ext cx="2871788" cy="382905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113" y="1042988"/>
            <a:ext cx="109538" cy="5905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57238" y="1042988"/>
            <a:ext cx="4138612" cy="590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结构一致性</a:t>
            </a: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代码目录 (presentation, domain 等) 1:1 对应 UML 包图。</a:t>
            </a:r>
            <a:endParaRPr lang="en-US" sz="91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113" y="1852613"/>
            <a:ext cx="109538" cy="5905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57238" y="1852613"/>
            <a:ext cx="4138612" cy="590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类图一致性</a:t>
            </a: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Student, Course, Enrollment 类的属性与方法严格遵循需求规格说明书中的 UML 类图设计。</a:t>
            </a:r>
            <a:endParaRPr lang="en-US" sz="91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113" y="2662238"/>
            <a:ext cx="109538" cy="5905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57238" y="2662238"/>
            <a:ext cx="4138612" cy="590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时序一致性</a:t>
            </a: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选课流程的代码调用链（Controller -&gt; Domain -&gt; Proxy）与设计文档中的时序图完全吻合。</a:t>
            </a:r>
            <a:endParaRPr lang="en-US" sz="91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113" y="3471863"/>
            <a:ext cx="109538" cy="5905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57238" y="3471863"/>
            <a:ext cx="4138612" cy="590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证据</a:t>
            </a: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:</a:t>
            </a:r>
            <a:b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展示 doc/ 下的 UML 图与实际代码截图的对比。</a:t>
            </a:r>
            <a:endParaRPr lang="en-US" sz="91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6838" y="2157413"/>
            <a:ext cx="995362" cy="8334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95" b="1" dirty="0">
                <a:solidFill>
                  <a:srgbClr val="FFFFFF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3</a:t>
            </a:r>
            <a:endParaRPr lang="en-US" sz="4095" dirty="0"/>
          </a:p>
        </p:txBody>
      </p:sp>
      <p:sp>
        <p:nvSpPr>
          <p:cNvPr id="3" name="Text 1"/>
          <p:cNvSpPr/>
          <p:nvPr/>
        </p:nvSpPr>
        <p:spPr>
          <a:xfrm>
            <a:off x="2886075" y="2128838"/>
            <a:ext cx="5101590" cy="89058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727CBE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分工与心得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088" y="371475"/>
            <a:ext cx="3776663" cy="12287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666750"/>
            <a:ext cx="633413" cy="6334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8213" y="871538"/>
            <a:ext cx="266700" cy="22383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286375" y="457200"/>
            <a:ext cx="3248025" cy="10572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团队分工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：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组织与任务分配</a:t>
            </a:r>
            <a:endParaRPr lang="en-US" sz="14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088" y="1985963"/>
            <a:ext cx="3776663" cy="122872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281238"/>
            <a:ext cx="633413" cy="633413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9638" y="2486025"/>
            <a:ext cx="338138" cy="223838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5286375" y="2071688"/>
            <a:ext cx="3248025" cy="10572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开发心得与体会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：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从实践中学习</a:t>
            </a:r>
            <a:endParaRPr lang="en-US" sz="14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088" y="3600450"/>
            <a:ext cx="3776663" cy="122872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895725"/>
            <a:ext cx="633413" cy="633413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9638" y="4100513"/>
            <a:ext cx="342900" cy="223838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5286375" y="3686175"/>
            <a:ext cx="3248025" cy="10572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结束语</a:t>
            </a: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：</a:t>
            </a:r>
            <a:b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感谢与互动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2200" y="1400175"/>
            <a:ext cx="2343150" cy="23431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24204" r="24204"/>
          <a:stretch>
            <a:fillRect/>
          </a:stretch>
        </p:blipFill>
        <p:spPr>
          <a:xfrm>
            <a:off x="0" y="0"/>
            <a:ext cx="3533775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9838" y="1547813"/>
            <a:ext cx="2043113" cy="204311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85235" y="94615"/>
            <a:ext cx="1346835" cy="134683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267008" y="681673"/>
            <a:ext cx="3257550" cy="5572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</a:t>
            </a: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架构设计：确立 4 层架构规范，设计模块化依赖关系。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核心攻坚：解决 C++ Modules 编译问题，实现 PIMPL 数据库适配器，优化 CMake 构建系统。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后端实现：开发 Domain 实体逻辑、Infrastructure 代理层、Application 控制器逻辑及数据库集成。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6985" y="3645535"/>
            <a:ext cx="1362075" cy="13620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461953" y="4047490"/>
            <a:ext cx="3152775" cy="5572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1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</a:t>
            </a: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界面开发：设计并实现 CLI 菜单系统，优化用户交互流程。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前后对接：负责将后端导出的接口（`SystemController`）接入到 UI 层，实现功能闭环。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 体验优化：处理输入异常，完善用户提示信息。</a:t>
            </a: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solidFill>
                <a:srgbClr val="000000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24785" y="2348230"/>
            <a:ext cx="1684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3.1 团队分工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75760" y="634365"/>
            <a:ext cx="819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高扬</a:t>
            </a:r>
            <a:endParaRPr lang="zh-CN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7675" y="2146300"/>
            <a:ext cx="851535" cy="85153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8040" y="2146300"/>
            <a:ext cx="851535" cy="85153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0015" y="2146300"/>
            <a:ext cx="851535" cy="851535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6640" y="2146300"/>
            <a:ext cx="851535" cy="85153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2465" y="2146300"/>
            <a:ext cx="851535" cy="85153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265295" y="423672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张涛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85750"/>
            <a:ext cx="4410075" cy="5143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3.2 开发心得摘要</a:t>
            </a:r>
            <a:endParaRPr lang="en-US" sz="2030" b="1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1445" y="707390"/>
            <a:ext cx="812546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架构演进之路 (v0.0 -&gt; v6.0)：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v0.0 - v1.0：我们从最简单的内存模拟开始，搭建了 C++ Modules 的骨架。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v2.0 - v3.0：经历了“痛苦”的数据库集成。为了在 C++23 模块中使用 PostgreSQL，我们不得不深入研究编译器特性，最终采用了静态库隔离的方案，这是一次极具价值的技术探索。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v4.0 - v5.0：为了解决“代码坏味道”，我们对自己进行了“手术刀式”的重构。将 Controller 中的 SQL 剥离，回归 DDD 本质。这一步让我们深刻理解了“为什么不能在业务层写 SQL”。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   v6.0：最后阶段的打磨，关注点回归到“人”。修复了死循环 Bug，优化了排版，让系统从“能跑的代码”变成了“好用的软件”。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核心感悟：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技术选型不能盲目求新（C++23 Modules 坑很多），但坚持规范（4层架构）能带来长久的回报。通过本次实训，我们不仅掌握了 C++ 的新特性，更重要的是实践了软件工程中“高内聚、低耦合”的核心思想。</a:t>
            </a: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383838"/>
              </a:solidFill>
              <a:latin typeface="阿里妈妈方圆体" pitchFamily="34" charset="0"/>
              <a:ea typeface="阿里妈妈方圆体" pitchFamily="34" charset="-122"/>
              <a:cs typeface="阿里妈妈方圆体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1850" y="2219325"/>
            <a:ext cx="339566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60" b="1" dirty="0">
                <a:solidFill>
                  <a:srgbClr val="CD727B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THE END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3371850" y="2662238"/>
            <a:ext cx="3395663" cy="857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27CBE"/>
                </a:solidFill>
                <a:latin typeface="阿里妈妈方圆体" pitchFamily="34" charset="0"/>
                <a:ea typeface="阿里妈妈方圆体" pitchFamily="34" charset="-122"/>
                <a:cs typeface="阿里妈妈方圆体" pitchFamily="34" charset="-120"/>
              </a:rPr>
              <a:t>THANKS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3488</Words>
  <Application>WPS 演示</Application>
  <PresentationFormat>On-screen Show (16:9)</PresentationFormat>
  <Paragraphs>151</Paragraphs>
  <Slides>15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阿里妈妈方圆体</vt:lpstr>
      <vt:lpstr>Segoe Print</vt:lpstr>
      <vt:lpstr>阿里妈妈方圆体</vt:lpstr>
      <vt:lpstr>阿里妈妈方圆体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选课管理系统项目展示 PPT 大纲</dc:title>
  <dc:creator>张涛&amp;高扬</dc:creator>
  <dc:subject>SUBTITLE HERE</dc:subject>
  <cp:lastModifiedBy>WPS_1721718427</cp:lastModifiedBy>
  <cp:revision>2</cp:revision>
  <dcterms:created xsi:type="dcterms:W3CDTF">2026-01-19T06:42:00Z</dcterms:created>
  <dcterms:modified xsi:type="dcterms:W3CDTF">2026-01-19T02:34:57Z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